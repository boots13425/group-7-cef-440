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20527"/>
            <a:ext cx="44075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asCrowdsensed Approach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7611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Crowdsourced Mobile Network Monitoring System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162398"/>
            <a:ext cx="4722763" cy="1860500"/>
          </a:xfrm>
          <a:prstGeom prst="roundRect">
            <a:avLst>
              <a:gd name="adj" fmla="val 1143"/>
            </a:avLst>
          </a:prstGeom>
          <a:solidFill>
            <a:srgbClr val="EDEBE3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162398"/>
            <a:ext cx="2361381" cy="1043657"/>
          </a:xfrm>
          <a:prstGeom prst="roundRect">
            <a:avLst>
              <a:gd name="adj" fmla="val 2038"/>
            </a:avLst>
          </a:prstGeom>
          <a:solidFill>
            <a:srgbClr val="EDEBE3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3041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Course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610669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Requirements Analysis and Specification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162398"/>
            <a:ext cx="2361381" cy="1043657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162398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D3D1C9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23041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Type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2610669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Software Engineering Project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206055"/>
            <a:ext cx="4722763" cy="816843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119" y="3206055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  <a:ln/>
        </p:spPr>
      </p:sp>
      <p:sp>
        <p:nvSpPr>
          <p:cNvPr id="15" name="Text 12"/>
          <p:cNvSpPr/>
          <p:nvPr/>
        </p:nvSpPr>
        <p:spPr>
          <a:xfrm>
            <a:off x="637877" y="33478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Platform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365432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Android-First Crowdsourced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393" y="361280"/>
            <a:ext cx="4862215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Introduction &amp; Problem Statement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26393" y="1279699"/>
            <a:ext cx="4862215" cy="887760"/>
          </a:xfrm>
          <a:prstGeom prst="roundRect">
            <a:avLst>
              <a:gd name="adj" fmla="val 7725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2105" y="1279699"/>
            <a:ext cx="57150" cy="887760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605358" y="1415802"/>
            <a:ext cx="188505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Poor Coverage Experience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5358" y="1668959"/>
            <a:ext cx="454714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mobile network coverage degrades user experience across urban and rural areas.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6393" y="2272085"/>
            <a:ext cx="4862215" cy="706562"/>
          </a:xfrm>
          <a:prstGeom prst="roundRect">
            <a:avLst>
              <a:gd name="adj" fmla="val 9706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2105" y="2272085"/>
            <a:ext cx="57150" cy="706562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</p:sp>
      <p:sp>
        <p:nvSpPr>
          <p:cNvPr id="10" name="Text 7"/>
          <p:cNvSpPr/>
          <p:nvPr/>
        </p:nvSpPr>
        <p:spPr>
          <a:xfrm>
            <a:off x="605358" y="2408188"/>
            <a:ext cx="247516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Lack of Crowdsourced Intelligence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5358" y="2661345"/>
            <a:ext cx="454714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accessible platform aggregates real-world network quality data from users.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6393" y="3083272"/>
            <a:ext cx="4862215" cy="706562"/>
          </a:xfrm>
          <a:prstGeom prst="roundRect">
            <a:avLst>
              <a:gd name="adj" fmla="val 9706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2105" y="3083272"/>
            <a:ext cx="57150" cy="706562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</p:sp>
      <p:sp>
        <p:nvSpPr>
          <p:cNvPr id="14" name="Text 11"/>
          <p:cNvSpPr/>
          <p:nvPr/>
        </p:nvSpPr>
        <p:spPr>
          <a:xfrm>
            <a:off x="605358" y="3219376"/>
            <a:ext cx="18374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Limited Existing Solutions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5358" y="3472532"/>
            <a:ext cx="454714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tools are proprietary, expensive, or lack geographical granularity.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26393" y="3894460"/>
            <a:ext cx="4862215" cy="887760"/>
          </a:xfrm>
          <a:prstGeom prst="roundRect">
            <a:avLst>
              <a:gd name="adj" fmla="val 7725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2105" y="3894460"/>
            <a:ext cx="57150" cy="887760"/>
          </a:xfrm>
          <a:prstGeom prst="roundRect">
            <a:avLst>
              <a:gd name="adj" fmla="val 31977"/>
            </a:avLst>
          </a:prstGeom>
          <a:solidFill>
            <a:srgbClr val="28282F"/>
          </a:solidFill>
          <a:ln/>
        </p:spPr>
      </p:sp>
      <p:sp>
        <p:nvSpPr>
          <p:cNvPr id="18" name="Text 15"/>
          <p:cNvSpPr/>
          <p:nvPr/>
        </p:nvSpPr>
        <p:spPr>
          <a:xfrm>
            <a:off x="605358" y="4030563"/>
            <a:ext cx="169961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Need for Geo-Analytics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05358" y="4283720"/>
            <a:ext cx="454714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operators require real-world, location-tagged network performance insights.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41779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Aim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crowdsourced mobile network monitoring system that empowers users and operators alike.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65548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226246"/>
            <a:ext cx="23566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Automatic Signal Monitoring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collect network quality metrics in the background.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65548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226246"/>
            <a:ext cx="25597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GPS-Based Coverage Mapping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every data point with precise geographic coordinates.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765548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2262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Offline-First Sync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253275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data without connectivity and synchronize when online.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69903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306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Analytics Dashboard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119" y="403711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operators with heatmaps and performance insights.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269903"/>
            <a:ext cx="283518" cy="283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72433" y="373060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Issue Reporting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272433" y="403711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users to manually flag network problems with location context.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5192539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Requirement Gathering &amp; Stakeholders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71226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Gathering Methods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831" y="1995525"/>
            <a:ext cx="169441" cy="169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1574" y="1989981"/>
            <a:ext cx="339253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analysis</a:t>
            </a:r>
            <a:endParaRPr lang="en-US" sz="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831" y="2519995"/>
            <a:ext cx="169441" cy="16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1574" y="2514451"/>
            <a:ext cx="339253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observations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831" y="3044465"/>
            <a:ext cx="169441" cy="1694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41574" y="3038921"/>
            <a:ext cx="339253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research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831" y="3568936"/>
            <a:ext cx="169441" cy="1694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41574" y="3563392"/>
            <a:ext cx="339253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problem analysis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27583"/>
            <a:ext cx="361176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Requirements Analysis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01" y="1187946"/>
            <a:ext cx="5213449" cy="2844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38482" y="2276642"/>
            <a:ext cx="1078839" cy="282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Requirements Analysis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538482" y="2599040"/>
            <a:ext cx="1078839" cy="330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definitions, feasibility, and consistency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262115" y="1765056"/>
            <a:ext cx="1129018" cy="1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Clarity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204410" y="1946326"/>
            <a:ext cx="1244428" cy="2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Unambiguous, testable specifications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59651" y="3170056"/>
            <a:ext cx="1129018" cy="1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Feasibility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1946" y="3351326"/>
            <a:ext cx="1244428" cy="2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Android, offline-first, PostGIS viability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00151" y="1489074"/>
            <a:ext cx="1129018" cy="1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Completeness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42446" y="1670344"/>
            <a:ext cx="1244428" cy="2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scenarios and edge cases covered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102485" y="3395860"/>
            <a:ext cx="1147208" cy="141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Dependency Analysis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053874" y="3577129"/>
            <a:ext cx="1244428" cy="22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inter-requirement relationships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72901" y="4177754"/>
            <a:ext cx="52134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phase validates that requirements are well-defined, technically achievable, and internally consistent.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20767" y="1202382"/>
            <a:ext cx="2655094" cy="1032197"/>
          </a:xfrm>
          <a:prstGeom prst="roundRect">
            <a:avLst>
              <a:gd name="adj" fmla="val 1964"/>
            </a:avLst>
          </a:prstGeom>
          <a:solidFill>
            <a:srgbClr val="EDEBE3"/>
          </a:solidFill>
          <a:ln/>
        </p:spPr>
      </p:sp>
      <p:sp>
        <p:nvSpPr>
          <p:cNvPr id="16" name="Text 13"/>
          <p:cNvSpPr/>
          <p:nvPr/>
        </p:nvSpPr>
        <p:spPr>
          <a:xfrm>
            <a:off x="6155829" y="13374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Android Feasibility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55829" y="1677293"/>
            <a:ext cx="23849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Kotlin + Jetpack Compose confirmed viable for background monitoring.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20767" y="2363316"/>
            <a:ext cx="2655094" cy="1032197"/>
          </a:xfrm>
          <a:prstGeom prst="roundRect">
            <a:avLst>
              <a:gd name="adj" fmla="val 1964"/>
            </a:avLst>
          </a:prstGeom>
          <a:solidFill>
            <a:srgbClr val="EDEBE3"/>
          </a:solidFill>
          <a:ln/>
        </p:spPr>
      </p:sp>
      <p:sp>
        <p:nvSpPr>
          <p:cNvPr id="19" name="Text 16"/>
          <p:cNvSpPr/>
          <p:nvPr/>
        </p:nvSpPr>
        <p:spPr>
          <a:xfrm>
            <a:off x="6155829" y="249837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Offline-First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55829" y="2838227"/>
            <a:ext cx="23849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storage with deferred sync is architecturally sound.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20767" y="3524250"/>
            <a:ext cx="2655094" cy="1032197"/>
          </a:xfrm>
          <a:prstGeom prst="roundRect">
            <a:avLst>
              <a:gd name="adj" fmla="val 1964"/>
            </a:avLst>
          </a:prstGeom>
          <a:solidFill>
            <a:srgbClr val="EDEBE3"/>
          </a:solidFill>
          <a:ln/>
        </p:spPr>
      </p:sp>
      <p:sp>
        <p:nvSpPr>
          <p:cNvPr id="22" name="Text 19"/>
          <p:cNvSpPr/>
          <p:nvPr/>
        </p:nvSpPr>
        <p:spPr>
          <a:xfrm>
            <a:off x="6155829" y="3659312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PostGIS Scalability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55829" y="3999161"/>
            <a:ext cx="23849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with PostGIS supports large-scale geospatial queries.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2013"/>
            <a:ext cx="665284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Functional &amp; Non-Functional Requirements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10155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Functional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349" y="1441177"/>
            <a:ext cx="1917353" cy="977950"/>
          </a:xfrm>
          <a:prstGeom prst="roundRect">
            <a:avLst>
              <a:gd name="adj" fmla="val 2005"/>
            </a:avLst>
          </a:prstGeom>
          <a:solidFill>
            <a:srgbClr val="EDEBE3"/>
          </a:solidFill>
          <a:ln/>
        </p:spPr>
      </p:sp>
      <p:sp>
        <p:nvSpPr>
          <p:cNvPr id="5" name="Shape 3"/>
          <p:cNvSpPr/>
          <p:nvPr/>
        </p:nvSpPr>
        <p:spPr>
          <a:xfrm>
            <a:off x="588020" y="1571848"/>
            <a:ext cx="392013" cy="392013"/>
          </a:xfrm>
          <a:prstGeom prst="roundRect">
            <a:avLst>
              <a:gd name="adj" fmla="val 14577140"/>
            </a:avLst>
          </a:prstGeom>
          <a:solidFill>
            <a:srgbClr val="2828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846" y="1679600"/>
            <a:ext cx="176361" cy="1763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8020" y="208433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Signal Monitoring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95178" y="1441177"/>
            <a:ext cx="1917427" cy="977950"/>
          </a:xfrm>
          <a:prstGeom prst="roundRect">
            <a:avLst>
              <a:gd name="adj" fmla="val 2005"/>
            </a:avLst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2625849" y="1571848"/>
            <a:ext cx="392013" cy="392013"/>
          </a:xfrm>
          <a:prstGeom prst="roundRect">
            <a:avLst>
              <a:gd name="adj" fmla="val 14577140"/>
            </a:avLst>
          </a:prstGeom>
          <a:solidFill>
            <a:srgbClr val="2828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3675" y="1679600"/>
            <a:ext cx="176361" cy="1763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25849" y="208433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GPS Tracking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349" y="2539603"/>
            <a:ext cx="1917353" cy="977950"/>
          </a:xfrm>
          <a:prstGeom prst="roundRect">
            <a:avLst>
              <a:gd name="adj" fmla="val 2005"/>
            </a:avLst>
          </a:prstGeom>
          <a:solidFill>
            <a:srgbClr val="EDEBE3"/>
          </a:solidFill>
          <a:ln/>
        </p:spPr>
      </p:sp>
      <p:sp>
        <p:nvSpPr>
          <p:cNvPr id="13" name="Shape 9"/>
          <p:cNvSpPr/>
          <p:nvPr/>
        </p:nvSpPr>
        <p:spPr>
          <a:xfrm>
            <a:off x="588020" y="2670274"/>
            <a:ext cx="392013" cy="392013"/>
          </a:xfrm>
          <a:prstGeom prst="roundRect">
            <a:avLst>
              <a:gd name="adj" fmla="val 14577140"/>
            </a:avLst>
          </a:prstGeom>
          <a:solidFill>
            <a:srgbClr val="2828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846" y="2778026"/>
            <a:ext cx="176361" cy="1763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8020" y="318276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Heatmap Generation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2495178" y="2539603"/>
            <a:ext cx="1917427" cy="977950"/>
          </a:xfrm>
          <a:prstGeom prst="roundRect">
            <a:avLst>
              <a:gd name="adj" fmla="val 2005"/>
            </a:avLst>
          </a:prstGeom>
          <a:solidFill>
            <a:srgbClr val="EDEBE3"/>
          </a:solidFill>
          <a:ln/>
        </p:spPr>
      </p:sp>
      <p:sp>
        <p:nvSpPr>
          <p:cNvPr id="17" name="Shape 12"/>
          <p:cNvSpPr/>
          <p:nvPr/>
        </p:nvSpPr>
        <p:spPr>
          <a:xfrm>
            <a:off x="2625849" y="2670274"/>
            <a:ext cx="392013" cy="392013"/>
          </a:xfrm>
          <a:prstGeom prst="roundRect">
            <a:avLst>
              <a:gd name="adj" fmla="val 14577140"/>
            </a:avLst>
          </a:prstGeom>
          <a:solidFill>
            <a:srgbClr val="28282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3675" y="2778026"/>
            <a:ext cx="176361" cy="1763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625849" y="318276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Synchronization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349" y="3638029"/>
            <a:ext cx="3955256" cy="977950"/>
          </a:xfrm>
          <a:prstGeom prst="roundRect">
            <a:avLst>
              <a:gd name="adj" fmla="val 2005"/>
            </a:avLst>
          </a:prstGeom>
          <a:solidFill>
            <a:srgbClr val="EDEBE3"/>
          </a:solidFill>
          <a:ln/>
        </p:spPr>
      </p:sp>
      <p:sp>
        <p:nvSpPr>
          <p:cNvPr id="21" name="Shape 15"/>
          <p:cNvSpPr/>
          <p:nvPr/>
        </p:nvSpPr>
        <p:spPr>
          <a:xfrm>
            <a:off x="588020" y="3768700"/>
            <a:ext cx="392013" cy="392013"/>
          </a:xfrm>
          <a:prstGeom prst="roundRect">
            <a:avLst>
              <a:gd name="adj" fmla="val 14577140"/>
            </a:avLst>
          </a:prstGeom>
          <a:solidFill>
            <a:srgbClr val="28282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846" y="3876452"/>
            <a:ext cx="176361" cy="1763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8020" y="4281190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Reporting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736157" y="110155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Non-Functional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736157" y="1441177"/>
            <a:ext cx="1917353" cy="1225079"/>
          </a:xfrm>
          <a:prstGeom prst="roundRect">
            <a:avLst>
              <a:gd name="adj" fmla="val 1600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881116" y="1586136"/>
            <a:ext cx="1627436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🔒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Security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881116" y="1915492"/>
            <a:ext cx="162743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data transmission and secure auth.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773987" y="1441177"/>
            <a:ext cx="1917427" cy="1225079"/>
          </a:xfrm>
          <a:prstGeom prst="roundRect">
            <a:avLst>
              <a:gd name="adj" fmla="val 1600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18945" y="1586136"/>
            <a:ext cx="1627510" cy="41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⚡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Battery Optimization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6918945" y="2119610"/>
            <a:ext cx="162751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drain via efficient background scheduling.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36157" y="2786732"/>
            <a:ext cx="1917353" cy="1225079"/>
          </a:xfrm>
          <a:prstGeom prst="roundRect">
            <a:avLst>
              <a:gd name="adj" fmla="val 1600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881116" y="2931691"/>
            <a:ext cx="1627436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📈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Scalability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881116" y="3261047"/>
            <a:ext cx="162743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growing user base and data volume.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773987" y="2786732"/>
            <a:ext cx="1917427" cy="1225079"/>
          </a:xfrm>
          <a:prstGeom prst="roundRect">
            <a:avLst>
              <a:gd name="adj" fmla="val 1600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918945" y="2931691"/>
            <a:ext cx="1627510" cy="41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✅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Reliability &amp; Availability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918945" y="3465165"/>
            <a:ext cx="162751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uptime with resilient offline fallback.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3386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Architecture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795114"/>
            <a:ext cx="6553200" cy="36576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59" y="795114"/>
            <a:ext cx="6553200" cy="3657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3759" y="4542383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offline-first, cloud-backed architecture ensures continuous data collection, reliable synchronization, and powerful geospatial analytics for telecom operators.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3959944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Features &amp; Workflow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21643" y="896987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668387" y="113913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88380" y="101433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88380" y="1256035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background signal monitoring with GPS tagging.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643" y="1698575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EDEBE3"/>
          </a:solidFill>
          <a:ln/>
        </p:spPr>
      </p:sp>
      <p:sp>
        <p:nvSpPr>
          <p:cNvPr id="8" name="Text 6"/>
          <p:cNvSpPr/>
          <p:nvPr/>
        </p:nvSpPr>
        <p:spPr>
          <a:xfrm>
            <a:off x="668387" y="194071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88380" y="181592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Local Storage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88380" y="2057623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Offline-first caching ensures no data loss without connectivity.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643" y="2500164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ED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668387" y="27423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88380" y="261751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Synchronization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88380" y="2859212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sync uploads batched records when online.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1643" y="3301752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EDEBE3"/>
          </a:solidFill>
          <a:ln/>
        </p:spPr>
      </p:sp>
      <p:sp>
        <p:nvSpPr>
          <p:cNvPr id="16" name="Text 14"/>
          <p:cNvSpPr/>
          <p:nvPr/>
        </p:nvSpPr>
        <p:spPr>
          <a:xfrm>
            <a:off x="668387" y="3543895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8380" y="341910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Processing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88380" y="3660800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API processes and stores data in PostGIS.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643" y="4103340"/>
            <a:ext cx="469553" cy="704404"/>
          </a:xfrm>
          <a:prstGeom prst="roundRect">
            <a:avLst>
              <a:gd name="adj" fmla="val 360040"/>
            </a:avLst>
          </a:prstGeom>
          <a:solidFill>
            <a:srgbClr val="EDEBE3"/>
          </a:solidFill>
          <a:ln/>
        </p:spPr>
      </p:sp>
      <p:sp>
        <p:nvSpPr>
          <p:cNvPr id="20" name="Text 18"/>
          <p:cNvSpPr/>
          <p:nvPr/>
        </p:nvSpPr>
        <p:spPr>
          <a:xfrm>
            <a:off x="668387" y="434548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88380" y="4220691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88380" y="4462388"/>
            <a:ext cx="753390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heatmaps and analytics rendered on the web dashboard.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26975"/>
            <a:ext cx="472067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Challenges, Constraints &amp; Validation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8932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Challenges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50912" y="1159669"/>
            <a:ext cx="2499122" cy="825029"/>
          </a:xfrm>
          <a:prstGeom prst="roundRect">
            <a:avLst>
              <a:gd name="adj" fmla="val 8312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25" y="1159669"/>
            <a:ext cx="57150" cy="825029"/>
          </a:xfrm>
          <a:prstGeom prst="roundRect">
            <a:avLst>
              <a:gd name="adj" fmla="val 29070"/>
            </a:avLst>
          </a:prstGeom>
          <a:solidFill>
            <a:srgbClr val="28282F"/>
          </a:solidFill>
          <a:ln/>
        </p:spPr>
      </p:sp>
      <p:sp>
        <p:nvSpPr>
          <p:cNvPr id="6" name="Text 4"/>
          <p:cNvSpPr/>
          <p:nvPr/>
        </p:nvSpPr>
        <p:spPr>
          <a:xfrm>
            <a:off x="918790" y="1284684"/>
            <a:ext cx="214379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Android Background Restrictions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8790" y="1544166"/>
            <a:ext cx="220622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limits on background processes require careful scheduling.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0912" y="2071167"/>
            <a:ext cx="2499122" cy="825029"/>
          </a:xfrm>
          <a:prstGeom prst="roundRect">
            <a:avLst>
              <a:gd name="adj" fmla="val 8312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625" y="2071167"/>
            <a:ext cx="57150" cy="825029"/>
          </a:xfrm>
          <a:prstGeom prst="roundRect">
            <a:avLst>
              <a:gd name="adj" fmla="val 29070"/>
            </a:avLst>
          </a:prstGeom>
          <a:solidFill>
            <a:srgbClr val="28282F"/>
          </a:solidFill>
          <a:ln/>
        </p:spPr>
      </p:sp>
      <p:sp>
        <p:nvSpPr>
          <p:cNvPr id="10" name="Text 8"/>
          <p:cNvSpPr/>
          <p:nvPr/>
        </p:nvSpPr>
        <p:spPr>
          <a:xfrm>
            <a:off x="918790" y="2196182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Battery Optimization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8790" y="2455664"/>
            <a:ext cx="220622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 continuous monitoring with minimal power consumption.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0912" y="2982664"/>
            <a:ext cx="2499122" cy="825029"/>
          </a:xfrm>
          <a:prstGeom prst="roundRect">
            <a:avLst>
              <a:gd name="adj" fmla="val 8312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625" y="2982664"/>
            <a:ext cx="57150" cy="825029"/>
          </a:xfrm>
          <a:prstGeom prst="roundRect">
            <a:avLst>
              <a:gd name="adj" fmla="val 29070"/>
            </a:avLst>
          </a:prstGeom>
          <a:solidFill>
            <a:srgbClr val="2828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8790" y="3107680"/>
            <a:ext cx="144980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Unstable Connectivity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8790" y="3367162"/>
            <a:ext cx="220622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 must be robust against intermittent internet access.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0912" y="3894162"/>
            <a:ext cx="2499122" cy="825029"/>
          </a:xfrm>
          <a:prstGeom prst="roundRect">
            <a:avLst>
              <a:gd name="adj" fmla="val 8312"/>
            </a:avLst>
          </a:prstGeom>
          <a:solidFill>
            <a:srgbClr val="F9F8F5"/>
          </a:solidFill>
          <a:ln w="14288">
            <a:solidFill>
              <a:srgbClr val="D3D1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25" y="3894162"/>
            <a:ext cx="57150" cy="825029"/>
          </a:xfrm>
          <a:prstGeom prst="roundRect">
            <a:avLst>
              <a:gd name="adj" fmla="val 29070"/>
            </a:avLst>
          </a:prstGeom>
          <a:solidFill>
            <a:srgbClr val="28282F"/>
          </a:solidFill>
          <a:ln/>
        </p:spPr>
      </p:sp>
      <p:sp>
        <p:nvSpPr>
          <p:cNvPr id="18" name="Text 16"/>
          <p:cNvSpPr/>
          <p:nvPr/>
        </p:nvSpPr>
        <p:spPr>
          <a:xfrm>
            <a:off x="918790" y="401917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GPS Permissions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8790" y="4278660"/>
            <a:ext cx="220622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runtime location permissions gracefully on Android.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4920" y="1589708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Validation Approach</a:t>
            </a:r>
            <a:endParaRPr lang="en-US" sz="10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705" y="1860054"/>
            <a:ext cx="3637211" cy="2158678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0114" y="2387671"/>
            <a:ext cx="309630" cy="30963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74252" y="3430931"/>
            <a:ext cx="904120" cy="34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Technical Feasibility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6577" y="2388251"/>
            <a:ext cx="309631" cy="3096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34814" y="3430931"/>
            <a:ext cx="904120" cy="34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Requirement Refinement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7138" y="2388251"/>
            <a:ext cx="309630" cy="30963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76797" y="3430931"/>
            <a:ext cx="904120" cy="34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Stakeholder Review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86953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 &amp; Future Improvements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41871" y="145710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41871" y="1780877"/>
            <a:ext cx="284038" cy="284038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6" name="Text 3"/>
          <p:cNvSpPr/>
          <p:nvPr/>
        </p:nvSpPr>
        <p:spPr>
          <a:xfrm>
            <a:off x="838349" y="1821879"/>
            <a:ext cx="186511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successfully analyzed and documented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41871" y="2428652"/>
            <a:ext cx="284038" cy="284038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838349" y="2469654"/>
            <a:ext cx="186511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offline-first architecture proposed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41871" y="3076426"/>
            <a:ext cx="284038" cy="284038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0" name="Text 7"/>
          <p:cNvSpPr/>
          <p:nvPr/>
        </p:nvSpPr>
        <p:spPr>
          <a:xfrm>
            <a:off x="838349" y="3117428"/>
            <a:ext cx="186511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telecom analytics platform designed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16300" y="145710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16300" y="1780877"/>
            <a:ext cx="2261592" cy="449684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3" name="Text 10"/>
          <p:cNvSpPr/>
          <p:nvPr/>
        </p:nvSpPr>
        <p:spPr>
          <a:xfrm>
            <a:off x="3142506" y="1907084"/>
            <a:ext cx="184822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🤖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AI Anomaly Detection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16300" y="2343001"/>
            <a:ext cx="2261592" cy="449684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5" name="Text 12"/>
          <p:cNvSpPr/>
          <p:nvPr/>
        </p:nvSpPr>
        <p:spPr>
          <a:xfrm>
            <a:off x="3142506" y="2469207"/>
            <a:ext cx="171636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📊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Predictive Analytics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16300" y="2905125"/>
            <a:ext cx="2261592" cy="449684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7" name="Text 14"/>
          <p:cNvSpPr/>
          <p:nvPr/>
        </p:nvSpPr>
        <p:spPr>
          <a:xfrm>
            <a:off x="3142506" y="303133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🔔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Real-Time Alerts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016300" y="3467249"/>
            <a:ext cx="2261592" cy="449684"/>
          </a:xfrm>
          <a:prstGeom prst="roundRect">
            <a:avLst>
              <a:gd name="adj" fmla="val 4212"/>
            </a:avLst>
          </a:prstGeom>
          <a:solidFill>
            <a:srgbClr val="EDEBE3"/>
          </a:solidFill>
          <a:ln/>
        </p:spPr>
      </p:sp>
      <p:sp>
        <p:nvSpPr>
          <p:cNvPr id="19" name="Text 16"/>
          <p:cNvSpPr/>
          <p:nvPr/>
        </p:nvSpPr>
        <p:spPr>
          <a:xfrm>
            <a:off x="3142506" y="359345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🍎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iOS Support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79475" y="4212059"/>
            <a:ext cx="4355976" cy="54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2026-05-12T12:35:16Z</dcterms:created>
  <dcterms:modified xsi:type="dcterms:W3CDTF">2026-05-12T12:35:16Z</dcterms:modified>
</cp:coreProperties>
</file>
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8" r:id="rId9"/>
    <p:sldId id="262" r:id="rId10"/>
    <p:sldId id="263" r:id="rId11"/>
    <p:sldId id="264" r:id="rId12"/>
    <p:sldId id="269" r:id="rId13"/>
    <p:sldId id="265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10"/>
  </p:normalViewPr>
  <p:slideViewPr>
    <p:cSldViewPr snapToGrid="0" snapToObjects="1">
      <p:cViewPr>
        <p:scale>
          <a:sx n="101" d="100"/>
          <a:sy n="101" d="100"/>
        </p:scale>
        <p:origin x="112" y="-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45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32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04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1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4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1"/>
                </a:solidFill>
              </a:rPr>
              <a:t>GROUP 7  |  FET-UB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CrowdSensed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Mobile Network Monitoring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7772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Database Design and Implementation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2025/2026   |   Faculty of Engineering &amp; Technology   |   Dept. of Computer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Submitted: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978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Implementation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441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telemetry, TelephonyManager, offline sync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514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304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700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categories: users, devices, measurements, operators, reports, coverage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8404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630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&amp; ER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9959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full schema with attributes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978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3441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setup, schema, indexes, live verification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2514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304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6700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API, endpoints, authentication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10912" y="38404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630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9959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mobile app connected to live database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Mobile Application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2.1  From Simulated Data → Real Network Telemetry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1F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Simulated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Values generated by JavaScript timers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not represent real coverage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Simulated data accidentally stored as real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meaningful network analysis possible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2011680"/>
            <a:ext cx="5486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Real TelephonyManager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TelephonyManager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bridge to native Android layer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polling via useEffect() lifecycle hook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RSRP, RSRQ, SINR, RSSI, PCI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2.2  Android TelephonyManager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3832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RSRP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33649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quality — reference signal power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291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33832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RSRQ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13048" y="33649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relative to interference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2918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33832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SINR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3408" y="33649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signal vs. noise ratio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502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404164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RSSI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32688" y="4023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received radio energy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9502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404164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PCI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13048" y="4023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Cell Identifier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9502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404164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</a:rPr>
              <a:t>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3408" y="4023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/ 5G NR radio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+ Backend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657600" cy="233802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Queue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11880" cy="1824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key: @netpulse_offline_telemetry_queu</a:t>
            </a: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5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connectivity before transmitting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Queues measurements locally when offline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Auto-syncs when connection restored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Payload: timestamp, rsrp, rsrq, rssi, sinr, pci, networkType, lat, lng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777240"/>
            <a:ext cx="4526280" cy="3870434"/>
          </a:xfrm>
          <a:prstGeom prst="roundRect">
            <a:avLst>
              <a:gd name="adj" fmla="val 3279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777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Fig 15: SyncEngine.ts — cacheMeasurementForSync()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1560"/>
            <a:ext cx="4370832" cy="3526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+ Backend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370" y="1051560"/>
            <a:ext cx="3282382" cy="2043211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340" y="13213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590" y="1540764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|  POST /api/telemetry/sync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Receives &amp; validates telemetry payloads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Inserts into PostgreSQL with PostGIS geography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parameterised queries to prevent SQL injection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4840" y="777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51972" y="754379"/>
            <a:ext cx="5484822" cy="4082482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33952" y="85725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Fig 16: server.ts — POST /api/telemetry/sync endpoint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973" y="1165859"/>
            <a:ext cx="5371310" cy="356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4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Elements — Six Core Categories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Users &amp; 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key, username, email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 (bcrypt)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operator | 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flag + timestamps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Devices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2161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PK, FK → 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device identifier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OS version, app 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 timestamp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77724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Measurements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2161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RSRP, RSRQ, SINR, RSSI (dBm/dB)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 (LTE/5G)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GEOGRAPHY point (WGS84)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(m) + sync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2743200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Network Operators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name, MCC, MNC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reference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measurements &amp; cells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2743200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80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Issue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1927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user + measurement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type, description, 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confidence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43200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880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Coverage &amp;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31927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GEOGRAPHY polygons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RSRP &amp; SINR per cell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analytics cache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count + status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(ER) Diagram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731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1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1" y="731520"/>
            <a:ext cx="9038371" cy="3875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7315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8884182" cy="40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1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749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0241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PostgreSQL 15 &amp; PostGIS extension. PostGIS required for GEOGRAPHY column spatial queries.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225296"/>
            <a:ext cx="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08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Role &amp; Extensions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dedicated role crowdsensed_user. Enabled postgis, uuid-ossp, pgcrypto extensions.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1938528"/>
            <a:ext cx="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219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176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Execution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4505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7 core tables: network_measurements, network_reports, speed_tests, speed_test_logs, user_network_reports + PostGIS tables.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2651760"/>
            <a:ext cx="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3522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28895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&amp; Seeding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31638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GIST indexes on GEOGRAPHY columns. B-tree on FK and recorded_at for performance.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364992"/>
            <a:ext cx="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64845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Verification (\dt)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87705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schema on live server via psql \dt — all tables present, PostGIS active (spatial_ref_sys visible).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749808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74920" y="749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C39A"/>
                </a:solidFill>
              </a:rPr>
              <a:t>Fig 17: psql \dt — Live Database Tables</a:t>
            </a:r>
            <a:endParaRPr lang="en-US" sz="8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24128"/>
            <a:ext cx="3657600" cy="157276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074920" y="278892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16636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166360" y="3246120"/>
            <a:ext cx="3566160" cy="320040"/>
          </a:xfrm>
          <a:prstGeom prst="roundRect">
            <a:avLst>
              <a:gd name="adj" fmla="val 17143"/>
            </a:avLst>
          </a:prstGeom>
          <a:solidFill>
            <a:srgbClr val="E8F4F8"/>
          </a:solidFill>
          <a:ln w="12700">
            <a:solidFill>
              <a:srgbClr val="B0D8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578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 —  Core relational engine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166360" y="3630168"/>
            <a:ext cx="3566160" cy="320040"/>
          </a:xfrm>
          <a:prstGeom prst="roundRect">
            <a:avLst>
              <a:gd name="adj" fmla="val 17143"/>
            </a:avLst>
          </a:prstGeom>
          <a:solidFill>
            <a:srgbClr val="E8F4F8"/>
          </a:solidFill>
          <a:ln w="12700">
            <a:solidFill>
              <a:srgbClr val="B0D8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57800" y="3630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Extension  —  Spatial data &amp; GEOGRAPHY type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166360" y="4014216"/>
            <a:ext cx="3566160" cy="320040"/>
          </a:xfrm>
          <a:prstGeom prst="roundRect">
            <a:avLst>
              <a:gd name="adj" fmla="val 17143"/>
            </a:avLst>
          </a:prstGeom>
          <a:solidFill>
            <a:srgbClr val="E8F4F8"/>
          </a:solidFill>
          <a:ln w="12700">
            <a:solidFill>
              <a:srgbClr val="B0D8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57800" y="40142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uuid-ossp  —  UUID generation for PKs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166360" y="4398264"/>
            <a:ext cx="3566160" cy="320040"/>
          </a:xfrm>
          <a:prstGeom prst="roundRect">
            <a:avLst>
              <a:gd name="adj" fmla="val 17143"/>
            </a:avLst>
          </a:prstGeom>
          <a:solidFill>
            <a:srgbClr val="E8F4F8"/>
          </a:solidFill>
          <a:ln w="12700">
            <a:solidFill>
              <a:srgbClr val="B0D8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57800" y="43982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  —  Password hashing support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Backend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9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crowdsensed/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crowdsensed-web/   ← React frontend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crowdsensed-backend/ ← Node.js + Express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netpulse-backend/  ← Mobile API 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— /api/v1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74320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43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POST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/auth/register  —  Register new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044952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POST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/auth/login  —  JWT token authentication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46704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467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33467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/samples/sync  —  Receive telemetry measurements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648456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48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4C7"/>
                </a:solidFill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36484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/samples  —  Retrieve measurements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50208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50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POST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9502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/reports  —  Submit issue report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25196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51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4C7"/>
                </a:solidFill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5840" y="4251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/analytics  —  Coverage &amp; analytics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553712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537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4C7"/>
                </a:solidFill>
              </a:rPr>
              <a:t>GET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05840" y="45537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 —  API liveness check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777240"/>
            <a:ext cx="4343400" cy="3840480"/>
          </a:xfrm>
          <a:prstGeom prst="roundRect">
            <a:avLst>
              <a:gd name="adj" fmla="val 2381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80560" y="777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C39A"/>
                </a:solidFill>
              </a:rPr>
              <a:t>Fig 16: server.ts — POST /api/telemetry/sync with parameterised INSERT</a:t>
            </a:r>
            <a:endParaRPr lang="en-US" sz="8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051560"/>
            <a:ext cx="4215384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System Verification &amp;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Live psql \dt — Deployed netpulse_db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51560"/>
            <a:ext cx="3986784" cy="1801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22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Confirmed on Live Server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1207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network_measurements — core telemetry table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network_reports — user issue reports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17556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speed_tests — download/upload/latency records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speed_test_logs — test audit trail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user_network_reports — reporting views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spatial_ref_sys — PostGIS extension active (6 rows)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3017520"/>
            <a:ext cx="8503920" cy="1783080"/>
          </a:xfrm>
          <a:prstGeom prst="roundRect">
            <a:avLst>
              <a:gd name="adj" fmla="val 5128"/>
            </a:avLst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6 — Deliverables Completed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real TelephonyManager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606040" y="35295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62072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 (6 categories)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35295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Diagram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903720" y="35295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59752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(11 tables, full schema)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38770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Implementation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606040" y="38770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62072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38770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10912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Verification (psql \dt)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Connecting Database to Backend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524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16128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1024128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5960" y="77724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524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16128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024128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77724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0A1931"/>
          </a:solidFill>
          <a:ln w="1524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16128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1024128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77724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154E64"/>
          </a:solidFill>
          <a:ln w="1524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777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proxy: /api → http://localhost:5000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7452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on all requests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2816352" cy="288036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65960"/>
            <a:ext cx="2816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6596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Wiring the Dashboard to the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377440"/>
            <a:ext cx="26334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 (Axios client) created in crowdsensed-web/src/services/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VITE_API_URL left blank → all requests are relative (e.g. /api/v1/auth/login)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proxy forwards /api/* to http://localhost:5000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interceptors auto-attach JWT Bearer token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interceptors handle 401 → redirect to login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965960"/>
            <a:ext cx="2816352" cy="288036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965960"/>
            <a:ext cx="2816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6596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Live Login Verification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2377440"/>
            <a:ext cx="26334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started: npm run dev at http://localhost:3000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seeded accounts tested:</a:t>
            </a:r>
            <a:endParaRPr lang="en-US" sz="950" dirty="0"/>
          </a:p>
          <a:p>
            <a:pPr marL="0" lvl="1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admin@crowdsensed.cm / admin123 (full admin)</a:t>
            </a:r>
            <a:endParaRPr lang="en-US" sz="950" dirty="0"/>
          </a:p>
          <a:p>
            <a:pPr marL="0" lvl="1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mtn@crowdsensed.cm / operator123 (operator)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 returns 200 + token + refreshToken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965960"/>
            <a:ext cx="2816352" cy="288036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1E8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965960"/>
            <a:ext cx="2816352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96596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Real API Traffic Confirmed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377440"/>
            <a:ext cx="26334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request log checked after login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confirmed: POST /auth/login → 200</a:t>
            </a:r>
            <a:endParaRPr lang="en-US" sz="950" dirty="0"/>
          </a:p>
          <a:p>
            <a:pPr marL="0" lvl="1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/api/v1/analytics/signal-trends → 200</a:t>
            </a:r>
            <a:endParaRPr lang="en-US" sz="950" dirty="0"/>
          </a:p>
          <a:p>
            <a:pPr marL="0" lvl="1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/api/v1/analytics/operator-stats → 304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 data — all responses from live PostgreSQL DB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864608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</a:rPr>
              <a:t>✓ Full stack verified: PostgreSQL → Node.js API → React Dashboard — all serving live data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1021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CrowdSensed — Dynamic Mobile Network Monitoring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Database Design &amp; Implementation  |  Group 7  |  FET-UB  |  2025/2026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9" name="WhatsApp Video 2026-06-14 at 3.17.40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94549" y="527830"/>
            <a:ext cx="2356663" cy="43657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1213" y="527830"/>
            <a:ext cx="1448850" cy="8153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4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1051</Words>
  <Application>Microsoft Office PowerPoint</Application>
  <PresentationFormat>On-screen Show (16:9)</PresentationFormat>
  <Paragraphs>213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CrowdSensed Task 6 – Database Design &amp; Implementation</dc:title>
  <dc:subject>PptxGenJS Presentation</dc:subject>
  <dc:creator>PptxGenJS</dc:creator>
  <cp:lastModifiedBy>USER</cp:lastModifiedBy>
  <cp:revision>7</cp:revision>
  <dcterms:created xsi:type="dcterms:W3CDTF">2026-06-16T09:07:30Z</dcterms:created>
  <dcterms:modified xsi:type="dcterms:W3CDTF">2026-06-16T10:56:13Z</dcterms:modified>
</cp:coreProperties>
</file>
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10.png"/><Relationship Id="rId11" Type="http://schemas.openxmlformats.org/officeDocument/2006/relationships/image" Target="../media/image-3-11.svg"/><Relationship Id="rId12" Type="http://schemas.openxmlformats.org/officeDocument/2006/relationships/image" Target="../media/image-3-12.png"/><Relationship Id="rId13" Type="http://schemas.openxmlformats.org/officeDocument/2006/relationships/image" Target="../media/image-3-13.sv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2.png"/><Relationship Id="rId5" Type="http://schemas.openxmlformats.org/officeDocument/2006/relationships/image" Target="../media/image-8-3.svg"/><Relationship Id="rId6" Type="http://schemas.openxmlformats.org/officeDocument/2006/relationships/image" Target="../media/image-8-2.png"/><Relationship Id="rId7" Type="http://schemas.openxmlformats.org/officeDocument/2006/relationships/image" Target="../media/image-8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993725"/>
            <a:ext cx="427851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NetPulse Crowdsense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649313"/>
            <a:ext cx="4722763" cy="1834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Community-Powered Network Intelligence</a:t>
            </a:r>
            <a:endParaRPr lang="en-US" sz="3850" dirty="0"/>
          </a:p>
        </p:txBody>
      </p:sp>
      <p:sp>
        <p:nvSpPr>
          <p:cNvPr id="5" name="Text 2"/>
          <p:cNvSpPr/>
          <p:nvPr/>
        </p:nvSpPr>
        <p:spPr>
          <a:xfrm>
            <a:off x="3925119" y="3696072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crowdsourced telecom analytics for smarter network optimization.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02208"/>
            <a:ext cx="3779862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96119" y="1004367"/>
            <a:ext cx="2299097" cy="1698947"/>
          </a:xfrm>
          <a:prstGeom prst="roundRect">
            <a:avLst>
              <a:gd name="adj" fmla="val 328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33785" y="1142033"/>
            <a:ext cx="398711" cy="398711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3396" y="1251645"/>
            <a:ext cx="179412" cy="1794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3785" y="1665312"/>
            <a:ext cx="1787872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Expensive Drive Tests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33785" y="1947714"/>
            <a:ext cx="2023765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Costly manual assessments performed only a few times per year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919785" y="1004367"/>
            <a:ext cx="2299097" cy="1698947"/>
          </a:xfrm>
          <a:prstGeom prst="roundRect">
            <a:avLst>
              <a:gd name="adj" fmla="val 328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057451" y="1142033"/>
            <a:ext cx="398711" cy="398711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67062" y="1251645"/>
            <a:ext cx="179412" cy="1794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057451" y="1665312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Limited Coverage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3057451" y="1947714"/>
            <a:ext cx="2023765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geographic reach with poor visibility into customer experience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96119" y="2827883"/>
            <a:ext cx="4722763" cy="1286991"/>
          </a:xfrm>
          <a:prstGeom prst="roundRect">
            <a:avLst>
              <a:gd name="adj" fmla="val 433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33785" y="2965549"/>
            <a:ext cx="398711" cy="398711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3396" y="3075161"/>
            <a:ext cx="179412" cy="1794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3785" y="3488829"/>
            <a:ext cx="1989013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Infrequent Assessments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33785" y="3771230"/>
            <a:ext cx="44474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 detection of coverage problems and network faults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496119" y="4254996"/>
            <a:ext cx="14288" cy="486221"/>
          </a:xfrm>
          <a:prstGeom prst="roundRect">
            <a:avLst>
              <a:gd name="adj" fmla="val 59998"/>
            </a:avLst>
          </a:prstGeom>
          <a:solidFill>
            <a:srgbClr val="4950BC"/>
          </a:solidFill>
          <a:ln/>
        </p:spPr>
      </p:sp>
      <p:sp>
        <p:nvSpPr>
          <p:cNvPr id="20" name="Text 14"/>
          <p:cNvSpPr/>
          <p:nvPr/>
        </p:nvSpPr>
        <p:spPr>
          <a:xfrm>
            <a:off x="695474" y="4395118"/>
            <a:ext cx="498060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if every smartphone became a network sensor?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Our Solution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NetPulse Crowdsense transforms ordinary smartphones into passive network monitoring sensors — delivering continuous, real-time intelligence to telecom operators.</a:t>
            </a:r>
            <a:endParaRPr lang="en-US" sz="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679" y="807021"/>
            <a:ext cx="8084567" cy="34862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3714" y="3632126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Coverage Heatmaps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73714" y="2825122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Cloud Analytics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2026269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Passive Collection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73714" y="1219264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Smartphone Data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4333056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passive smartphone data collection to actionable network insights — all automated and real-time.</a:t>
            </a:r>
            <a:endParaRPr lang="en-US" sz="5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4470276"/>
            <a:ext cx="106263" cy="10626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7803" y="4473401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Signal Monitoring</a:t>
            </a:r>
            <a:endParaRPr lang="en-US" sz="6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4101" y="4470276"/>
            <a:ext cx="106263" cy="10626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35785" y="4473401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GPS Mapping</a:t>
            </a:r>
            <a:endParaRPr lang="en-US" sz="6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4667324"/>
            <a:ext cx="106263" cy="10626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7803" y="4670450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Offline Sync</a:t>
            </a:r>
            <a:endParaRPr lang="en-US" sz="6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94101" y="4667324"/>
            <a:ext cx="106263" cy="10626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735785" y="4670450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Speed Testing</a:t>
            </a:r>
            <a:endParaRPr lang="en-US" sz="6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6119" y="4864373"/>
            <a:ext cx="106263" cy="10626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37803" y="4867498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Issue Reporting</a:t>
            </a:r>
            <a:endParaRPr lang="en-US" sz="6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94101" y="4864373"/>
            <a:ext cx="106263" cy="106263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4735785" y="4867498"/>
            <a:ext cx="95659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Interactive Dashboard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91878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 Experience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1838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seamless experience from mobile app to web dashboard — designed for operators and end users alike.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204665"/>
            <a:ext cx="1104900" cy="6828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06466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Live Signal Quality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3371180"/>
            <a:ext cx="190500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signal and quality metrics on every user's device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2204665"/>
            <a:ext cx="1104900" cy="6828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78298" y="306466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Coverage Maps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2578298" y="3371180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heatmaps revealing coverage gaps across regions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2204665"/>
            <a:ext cx="1104900" cy="68282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60553" y="306466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Speed Testing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660553" y="3371180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and on-demand speed tests from real user locations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2204665"/>
            <a:ext cx="1104900" cy="68282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42807" y="3064669"/>
            <a:ext cx="18074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Analytics Dashboard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6742807" y="3371180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Operator-grade insights, fault alerts, and infrastructure reports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5694"/>
            <a:ext cx="3502968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It Matters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496119" y="1025723"/>
            <a:ext cx="4023568" cy="1157585"/>
          </a:xfrm>
          <a:prstGeom prst="roundRect">
            <a:avLst>
              <a:gd name="adj" fmla="val 442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2697" y="1152302"/>
            <a:ext cx="365447" cy="365447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156" y="1252761"/>
            <a:ext cx="164455" cy="1644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2697" y="1622375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Reduce Costs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22697" y="1875532"/>
            <a:ext cx="377041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Eliminate expensive manual drive tests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624313" y="1025723"/>
            <a:ext cx="4023568" cy="1157585"/>
          </a:xfrm>
          <a:prstGeom prst="roundRect">
            <a:avLst>
              <a:gd name="adj" fmla="val 442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50891" y="1152302"/>
            <a:ext cx="365447" cy="365447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1350" y="1252761"/>
            <a:ext cx="164455" cy="16445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0891" y="1622375"/>
            <a:ext cx="169686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Nationwide Monitoring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750891" y="1875532"/>
            <a:ext cx="377041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coverage across entire countries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96119" y="2287935"/>
            <a:ext cx="4023568" cy="1157585"/>
          </a:xfrm>
          <a:prstGeom prst="roundRect">
            <a:avLst>
              <a:gd name="adj" fmla="val 442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2697" y="2414513"/>
            <a:ext cx="365447" cy="365447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3156" y="2514972"/>
            <a:ext cx="164455" cy="16445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2697" y="2884587"/>
            <a:ext cx="162922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Faster Fault Detection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22697" y="3137743"/>
            <a:ext cx="377041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and resolve issues in real-time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624313" y="2287935"/>
            <a:ext cx="4023568" cy="1157585"/>
          </a:xfrm>
          <a:prstGeom prst="roundRect">
            <a:avLst>
              <a:gd name="adj" fmla="val 442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50891" y="2414513"/>
            <a:ext cx="365447" cy="365447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51350" y="2514972"/>
            <a:ext cx="164455" cy="16445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50891" y="2884587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Better CX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750891" y="3137743"/>
            <a:ext cx="377041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 customer satisfaction with data-driven decisions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96119" y="3550146"/>
            <a:ext cx="4023568" cy="1157585"/>
          </a:xfrm>
          <a:prstGeom prst="roundRect">
            <a:avLst>
              <a:gd name="adj" fmla="val 442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22697" y="3676724"/>
            <a:ext cx="365447" cy="365447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3156" y="3777183"/>
            <a:ext cx="164455" cy="16445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22697" y="4146798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 Infrastructure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622697" y="4399955"/>
            <a:ext cx="377041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Data-driven planning for network deployment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4624313" y="3550146"/>
            <a:ext cx="4023568" cy="1157585"/>
          </a:xfrm>
          <a:prstGeom prst="roundRect">
            <a:avLst>
              <a:gd name="adj" fmla="val 442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750891" y="3676724"/>
            <a:ext cx="365447" cy="365447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51350" y="3777183"/>
            <a:ext cx="164455" cy="16445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750891" y="4146798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Multi-Operator</a:t>
            </a:r>
            <a:endParaRPr lang="en-US" sz="1150" dirty="0"/>
          </a:p>
        </p:txBody>
      </p:sp>
      <p:sp>
        <p:nvSpPr>
          <p:cNvPr id="32" name="Text 24"/>
          <p:cNvSpPr/>
          <p:nvPr/>
        </p:nvSpPr>
        <p:spPr>
          <a:xfrm>
            <a:off x="4750891" y="4399955"/>
            <a:ext cx="377041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multiple telecom operators simultaneously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256118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Competitive Advantage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96119" y="2625626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drive testing is costly, manual, and infrequent. NetPulse Crowdsense replaces it with continuous, automated, crowdsourced intelligence at a fraction of the cost.</a:t>
            </a:r>
            <a:endParaRPr lang="en-US" sz="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5911" y="720849"/>
            <a:ext cx="3986733" cy="39867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54063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Market Opportunity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80567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vast and underserved market across Africa — with expansion potential into multiple African markets.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066851"/>
            <a:ext cx="283518" cy="283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6816" y="211551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Telecom Operators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56816" y="2422029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customers seeking continuous network intelligence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2066851"/>
            <a:ext cx="283518" cy="283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733130" y="2115517"/>
            <a:ext cx="213843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Regulators &amp; ICT Agencies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733130" y="2643485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Government bodies monitoring national coverage standards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2066851"/>
            <a:ext cx="283518" cy="283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09445" y="2115517"/>
            <a:ext cx="213843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Internet Service Providers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509445" y="2643485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ISPs expanding broadband and mobile connectivity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380631"/>
            <a:ext cx="283518" cy="2835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56816" y="342929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 City Projects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956816" y="3735809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Urban initiatives requiring real-time connectivity data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72433" y="3380631"/>
            <a:ext cx="283518" cy="28351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733130" y="3429298"/>
            <a:ext cx="18311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Research Institutions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3733130" y="3735809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 and policy research on telecom infrastructure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Model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04255"/>
            <a:ext cx="3989412" cy="39894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3232" y="2613868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NetPulse Crowdsense monetizes through a diversified SaaS model — combining recurring subscriptions with high-value enterprise services and government partnerships.</a:t>
            </a:r>
            <a:endParaRPr lang="en-US" sz="5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4773290"/>
            <a:ext cx="2693640" cy="37772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4586" y="4853657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Recurring Revenue</a:t>
            </a:r>
            <a:endParaRPr lang="en-US" sz="650" dirty="0"/>
          </a:p>
        </p:txBody>
      </p:sp>
      <p:sp>
        <p:nvSpPr>
          <p:cNvPr id="7" name="Text 3"/>
          <p:cNvSpPr/>
          <p:nvPr/>
        </p:nvSpPr>
        <p:spPr>
          <a:xfrm>
            <a:off x="614586" y="4985593"/>
            <a:ext cx="249480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 plans and enterprise platform licenses</a:t>
            </a:r>
            <a:endParaRPr lang="en-US" sz="5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25180" y="4773290"/>
            <a:ext cx="2693640" cy="37772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343647" y="4853657"/>
            <a:ext cx="94624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High-Margin Services</a:t>
            </a:r>
            <a:endParaRPr lang="en-US" sz="650" dirty="0"/>
          </a:p>
        </p:txBody>
      </p:sp>
      <p:sp>
        <p:nvSpPr>
          <p:cNvPr id="10" name="Text 5"/>
          <p:cNvSpPr/>
          <p:nvPr/>
        </p:nvSpPr>
        <p:spPr>
          <a:xfrm>
            <a:off x="3343647" y="4985593"/>
            <a:ext cx="249480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APIs, custom analytics, and coverage reports</a:t>
            </a:r>
            <a:endParaRPr lang="en-US" sz="5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54241" y="4773290"/>
            <a:ext cx="2693640" cy="37772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072708" y="4853657"/>
            <a:ext cx="96998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Partnerships</a:t>
            </a:r>
            <a:endParaRPr lang="en-US" sz="650" dirty="0"/>
          </a:p>
        </p:txBody>
      </p:sp>
      <p:sp>
        <p:nvSpPr>
          <p:cNvPr id="13" name="Text 7"/>
          <p:cNvSpPr/>
          <p:nvPr/>
        </p:nvSpPr>
        <p:spPr>
          <a:xfrm>
            <a:off x="6072708" y="4985593"/>
            <a:ext cx="249480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Government and regulator contracts for national monitoring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32718"/>
            <a:ext cx="3170709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Vision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618158" y="896541"/>
            <a:ext cx="14288" cy="1562174"/>
          </a:xfrm>
          <a:prstGeom prst="roundRect">
            <a:avLst>
              <a:gd name="adj" fmla="val 319058"/>
            </a:avLst>
          </a:prstGeom>
          <a:solidFill>
            <a:srgbClr val="C0C1D7"/>
          </a:solidFill>
          <a:ln/>
        </p:spPr>
      </p:sp>
      <p:sp>
        <p:nvSpPr>
          <p:cNvPr id="5" name="Shape 2"/>
          <p:cNvSpPr/>
          <p:nvPr/>
        </p:nvSpPr>
        <p:spPr>
          <a:xfrm>
            <a:off x="725946" y="1011436"/>
            <a:ext cx="325562" cy="14288"/>
          </a:xfrm>
          <a:prstGeom prst="roundRect">
            <a:avLst>
              <a:gd name="adj" fmla="val 319058"/>
            </a:avLst>
          </a:prstGeom>
          <a:solidFill>
            <a:srgbClr val="C0C1D7"/>
          </a:solidFill>
          <a:ln/>
        </p:spPr>
      </p:sp>
      <p:sp>
        <p:nvSpPr>
          <p:cNvPr id="6" name="Shape 3"/>
          <p:cNvSpPr/>
          <p:nvPr/>
        </p:nvSpPr>
        <p:spPr>
          <a:xfrm>
            <a:off x="496081" y="896541"/>
            <a:ext cx="244153" cy="244153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6749" y="916856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60859" y="933822"/>
            <a:ext cx="1384176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1 — Cameroon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60859" y="1153195"/>
            <a:ext cx="4058022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and validate the platform with initial operator partnerships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25946" y="1587550"/>
            <a:ext cx="325562" cy="14288"/>
          </a:xfrm>
          <a:prstGeom prst="roundRect">
            <a:avLst>
              <a:gd name="adj" fmla="val 319058"/>
            </a:avLst>
          </a:prstGeom>
          <a:solidFill>
            <a:srgbClr val="C0C1D7"/>
          </a:solidFill>
          <a:ln/>
        </p:spPr>
      </p:sp>
      <p:sp>
        <p:nvSpPr>
          <p:cNvPr id="11" name="Shape 8"/>
          <p:cNvSpPr/>
          <p:nvPr/>
        </p:nvSpPr>
        <p:spPr>
          <a:xfrm>
            <a:off x="496081" y="1472654"/>
            <a:ext cx="244153" cy="244153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6749" y="1492969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60859" y="1509936"/>
            <a:ext cx="164745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2 — Central Africa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160859" y="1729308"/>
            <a:ext cx="4058022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to neighboring markets and scale user base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725946" y="2163663"/>
            <a:ext cx="325562" cy="14288"/>
          </a:xfrm>
          <a:prstGeom prst="roundRect">
            <a:avLst>
              <a:gd name="adj" fmla="val 319058"/>
            </a:avLst>
          </a:prstGeom>
          <a:solidFill>
            <a:srgbClr val="C0C1D7"/>
          </a:solidFill>
          <a:ln/>
        </p:spPr>
      </p:sp>
      <p:sp>
        <p:nvSpPr>
          <p:cNvPr id="16" name="Shape 13"/>
          <p:cNvSpPr/>
          <p:nvPr/>
        </p:nvSpPr>
        <p:spPr>
          <a:xfrm>
            <a:off x="496081" y="2048768"/>
            <a:ext cx="244153" cy="244153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6749" y="2069083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160859" y="2086049"/>
            <a:ext cx="1537395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3 — Africa-Wide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160859" y="2305422"/>
            <a:ext cx="4058022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Become the continent's leading crowdsourced telecom intelligence platform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96119" y="2583359"/>
            <a:ext cx="2309738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AI-Powered Future Features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96119" y="2877517"/>
            <a:ext cx="4722763" cy="396032"/>
          </a:xfrm>
          <a:prstGeom prst="roundRect">
            <a:avLst>
              <a:gd name="adj" fmla="val 1151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9377" y="2990776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Coverage Prediction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96119" y="3356595"/>
            <a:ext cx="4722763" cy="396032"/>
          </a:xfrm>
          <a:prstGeom prst="roundRect">
            <a:avLst>
              <a:gd name="adj" fmla="val 1151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9377" y="3469853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Outage Forecasting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96119" y="3835673"/>
            <a:ext cx="4722763" cy="396032"/>
          </a:xfrm>
          <a:prstGeom prst="roundRect">
            <a:avLst>
              <a:gd name="adj" fmla="val 1151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09377" y="3948931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5G Optimization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96119" y="4314751"/>
            <a:ext cx="4722763" cy="396032"/>
          </a:xfrm>
          <a:prstGeom prst="roundRect">
            <a:avLst>
              <a:gd name="adj" fmla="val 1151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9377" y="4428009"/>
            <a:ext cx="2190155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Infrastructure Recommendations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98264"/>
            <a:ext cx="4722763" cy="2531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Together, we can build Africa's largest crowdsourced mobile network intelligence platform.</a:t>
            </a:r>
            <a:endParaRPr lang="en-US" sz="3150" dirty="0"/>
          </a:p>
        </p:txBody>
      </p:sp>
      <p:sp>
        <p:nvSpPr>
          <p:cNvPr id="4" name="Shape 1"/>
          <p:cNvSpPr/>
          <p:nvPr/>
        </p:nvSpPr>
        <p:spPr>
          <a:xfrm>
            <a:off x="3925119" y="3104555"/>
            <a:ext cx="4722763" cy="14288"/>
          </a:xfrm>
          <a:prstGeom prst="roundRect">
            <a:avLst>
              <a:gd name="adj" fmla="val 59998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3925119" y="3293938"/>
            <a:ext cx="3621360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NetPulse Crowdsense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3925119" y="3806577"/>
            <a:ext cx="517996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Community-Powered Network Intelligence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925119" y="4087564"/>
            <a:ext cx="4722763" cy="657597"/>
          </a:xfrm>
          <a:prstGeom prst="roundRect">
            <a:avLst>
              <a:gd name="adj" fmla="val 749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929881" y="4092327"/>
            <a:ext cx="4713238" cy="648072"/>
          </a:xfrm>
          <a:prstGeom prst="roundRect">
            <a:avLst>
              <a:gd name="adj" fmla="val 7608"/>
            </a:avLst>
          </a:prstGeom>
          <a:solidFill>
            <a:srgbClr val="DADBF1"/>
          </a:solidFill>
          <a:ln/>
        </p:spPr>
      </p:sp>
      <p:sp>
        <p:nvSpPr>
          <p:cNvPr id="9" name="Text 6"/>
          <p:cNvSpPr/>
          <p:nvPr/>
        </p:nvSpPr>
        <p:spPr>
          <a:xfrm>
            <a:off x="4047232" y="4209678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047232" y="4451375"/>
            <a:ext cx="4478536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Let's connect and discuss how we can transform network intelligence together.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2026-07-04T09:08:09Z</dcterms:created>
  <dcterms:modified xsi:type="dcterms:W3CDTF">2026-07-04T09:08:09Z</dcterms:modified>
</cp:coreProperties>
</file>